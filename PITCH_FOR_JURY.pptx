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3" autoAdjust="0"/>
    <p:restoredTop sz="94711" autoAdjust="0"/>
  </p:normalViewPr>
  <p:slideViewPr>
    <p:cSldViewPr snapToGrid="0" snapToObjects="1">
      <p:cViewPr varScale="1">
        <p:scale>
          <a:sx n="84" d="100"/>
          <a:sy n="84" d="100"/>
        </p:scale>
        <p:origin x="127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5" Type="http://schemas.openxmlformats.org/officeDocument/2006/relationships/viewProps" Target="viewProps.xml" /><Relationship Id="rId4" Type="http://schemas.openxmlformats.org/officeDocument/2006/relationships/presProps" Target="presProps.xml" /><Relationship Id="rId1" Type="http://schemas.openxmlformats.org/officeDocument/2006/relationships/slideMaster" Target="slideMasters/slideMaster1.xml" /><Relationship Id="rId7" Type="http://schemas.openxmlformats.org/officeDocument/2006/relationships/tableStyles" Target="tableStyles.xml" /><Relationship Id="rId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41EB5C9-1307-BA42-ABA2-0BC069CD8E7F}" type="datetimeFigureOut">
              <a:rPr lang="en-US" smtClean="0"/>
              <a:t>4/5/2019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41EB5C9-1307-BA42-ABA2-0BC069CD8E7F}" type="datetimeFigureOut">
              <a:rPr lang="en-US" smtClean="0"/>
              <a:t>4/5/2019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41EB5C9-1307-BA42-ABA2-0BC069CD8E7F}" type="datetimeFigureOut">
              <a:rPr lang="en-US" smtClean="0"/>
              <a:t>4/5/2019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4/5/2019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4/5/2019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4/5/2019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1EB5C9-1307-BA42-ABA2-0BC069CD8E7F}" type="datetimeFigureOut">
              <a:rPr lang="en-US" smtClean="0"/>
              <a:t>4/5/2019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marL="0" indent="0">
              <a:buNone/>
            </a:pPr>
            <a:r>
              <a:rPr/>
              <a:t>PRESENTATION POUR LE JURY — Pharma Ebolowa</a:t>
            </a:r>
          </a:p>
          <a:p>
            <a:pPr lvl="0" marL="0" indent="0">
              <a:buNone/>
            </a:pPr>
            <a:r>
              <a:rPr/>
              <a:t>But et accroche</a:t>
            </a:r>
          </a:p>
          <a:p>
            <a:pPr lvl="0" marL="0" indent="0">
              <a:buNone/>
            </a:pPr>
            <a:r>
              <a:rPr/>
              <a:t>Pharma Ebolowa est une application web locale qui permet aux habitants de trouver rapidement un médicament disponible dans les pharmacies locales, tout en donnant aux pharmaciens un moyen simple et sécurisé de mettre à jour leurs stocks. Elle améliore l’accès aux soins et réduit le temps perdu à chercher un médicament.</a:t>
            </a:r>
          </a:p>
          <a:p>
            <a:pPr lvl="0" marL="0" indent="0">
              <a:buNone/>
            </a:pPr>
            <a:r>
              <a:rPr/>
              <a:t>Le problème</a:t>
            </a:r>
          </a:p>
          <a:p>
            <a:pPr lvl="1"/>
            <a:r>
              <a:rPr/>
              <a:t>Les patients appellent ou se déplacent sans savoir si un médicament est disponible.</a:t>
            </a:r>
          </a:p>
          <a:p>
            <a:pPr lvl="1"/>
            <a:r>
              <a:rPr/>
              <a:t>Les pharmacies gèrent souvent les stocks manuellement (papier, Excel) et les informations ne sont pas centralisées.</a:t>
            </a:r>
          </a:p>
          <a:p>
            <a:pPr lvl="1"/>
            <a:r>
              <a:rPr/>
              <a:t>Les responsables (administrateurs) n’ont pas d’outil simple pour superviser l’ensemble des pharmacies.</a:t>
            </a:r>
          </a:p>
          <a:p>
            <a:pPr lvl="0" marL="0" indent="0">
              <a:buNone/>
            </a:pPr>
            <a:r>
              <a:rPr/>
              <a:t>La solution (en termes non techniques)</a:t>
            </a:r>
          </a:p>
          <a:p>
            <a:pPr lvl="1"/>
            <a:r>
              <a:rPr/>
              <a:t>Une interface publique pour rechercher des médicaments et voir les pharmacies qui les ont en stock.</a:t>
            </a:r>
          </a:p>
          <a:p>
            <a:pPr lvl="1"/>
            <a:r>
              <a:rPr/>
              <a:t>Une page dédiée par pharmacie (adresse, téléphone, horaires, carte).</a:t>
            </a:r>
          </a:p>
          <a:p>
            <a:pPr lvl="1"/>
            <a:r>
              <a:rPr/>
              <a:t>Un espace pour le pharmacien (après connexion) lui permettant d’importer un fichier (CSV ou JSON) contenant l’état des stocks et les prix.</a:t>
            </a:r>
          </a:p>
          <a:p>
            <a:pPr lvl="1"/>
            <a:r>
              <a:rPr/>
              <a:t>Un espace administrateur global (après connexion) avec les mêmes pouvoirs sur toutes les pharmacies + réglages globaux.</a:t>
            </a:r>
          </a:p>
          <a:p>
            <a:pPr lvl="1"/>
            <a:r>
              <a:rPr/>
              <a:t>Les fonctions sensibles (import, modification des informations) sont protégées derrière une connexion.</a:t>
            </a:r>
          </a:p>
          <a:p>
            <a:pPr lvl="0" marL="0" indent="0">
              <a:buNone/>
            </a:pPr>
            <a:r>
              <a:rPr/>
              <a:t>Rôles et accès</a:t>
            </a:r>
          </a:p>
          <a:p>
            <a:pPr lvl="1"/>
            <a:r>
              <a:rPr/>
              <a:t>Client (grand public) : Recherche et consultation — pas besoin de se connecter.</a:t>
            </a:r>
          </a:p>
          <a:p>
            <a:pPr lvl="1"/>
            <a:r>
              <a:rPr/>
              <a:t>Pharmacien : Se connecte uniquement à la page de SA pharmacie pour modifier le stock et les informations. Après sortie de la page, l’accès administrateur/pharmacien est automatiquement révoqué.</a:t>
            </a:r>
          </a:p>
          <a:p>
            <a:pPr lvl="1"/>
            <a:r>
              <a:rPr/>
              <a:t>Administrateur : Accès global à toutes les pharmacies, peut modifier les fiches et réinitialiser les données.</a:t>
            </a:r>
          </a:p>
          <a:p>
            <a:pPr lvl="0" marL="0" indent="0">
              <a:buNone/>
            </a:pPr>
            <a:r>
              <a:rPr/>
              <a:t>Identifiants de démonstration (mode démo)</a:t>
            </a:r>
          </a:p>
          <a:p>
            <a:pPr lvl="1"/>
            <a:r>
              <a:rPr/>
              <a:t>Administrateur : identifiant = admin, mot de passe = admin</a:t>
            </a:r>
          </a:p>
          <a:p>
            <a:pPr lvl="1"/>
            <a:r>
              <a:rPr/>
              <a:t>Pharmacies : mot de passe égal à l’identifiant de la pharmacie (ex. équasep -&gt; equasep, samba -&gt; samba). (Ces comptes sont des comptes de démonstration et doivent être remplacés en production.)</a:t>
            </a:r>
          </a:p>
          <a:p>
            <a:pPr lvl="0" marL="0" indent="0">
              <a:buNone/>
            </a:pPr>
            <a:r>
              <a:rPr/>
              <a:t>Démonstration proposée devant le jury (script simple)</a:t>
            </a:r>
          </a:p>
          <a:p>
            <a:pPr lvl="1">
              <a:buAutoNum type="arabicPeriod"/>
            </a:pPr>
            <a:r>
              <a:rPr/>
              <a:t>Préparation (sur la machine) :</a:t>
            </a:r>
          </a:p>
          <a:p>
            <a:pPr lvl="2"/>
            <a:r>
              <a:rPr/>
              <a:t>Ouvrir un terminal dans le dossier du projet.</a:t>
            </a:r>
          </a:p>
          <a:p>
            <a:pPr lvl="2"/>
            <a:r>
              <a:rPr/>
              <a:t>Démarrer le backend :</a:t>
            </a:r>
          </a:p>
          <a:p>
            <a:pPr lvl="3"/>
            <a:r>
              <a:rPr/>
              <a:t>cd backend</a:t>
            </a:r>
          </a:p>
          <a:p>
            <a:pPr lvl="3"/>
            <a:r>
              <a:rPr/>
              <a:t>npm install</a:t>
            </a:r>
          </a:p>
          <a:p>
            <a:pPr lvl="3"/>
            <a:r>
              <a:rPr/>
              <a:t>npm run dev</a:t>
            </a:r>
          </a:p>
          <a:p>
            <a:pPr lvl="2"/>
            <a:r>
              <a:rPr/>
              <a:t>Démarrer le frontend (à la racine du projet) :</a:t>
            </a:r>
          </a:p>
          <a:p>
            <a:pPr lvl="3"/>
            <a:r>
              <a:rPr/>
              <a:t>npm install</a:t>
            </a:r>
          </a:p>
          <a:p>
            <a:pPr lvl="3"/>
            <a:r>
              <a:rPr/>
              <a:t>npm run dev</a:t>
            </a:r>
          </a:p>
          <a:p>
            <a:pPr lvl="2"/>
            <a:r>
              <a:rPr/>
              <a:t>Ouvrir le navigateur : http://localhost:5173 (ou l’URL indiquée par Vite)</a:t>
            </a:r>
          </a:p>
          <a:p>
            <a:pPr lvl="1">
              <a:buAutoNum type="arabicPeriod"/>
            </a:pPr>
            <a:r>
              <a:rPr/>
              <a:t>Montrer la vue publique (recherche) :</a:t>
            </a:r>
          </a:p>
          <a:p>
            <a:pPr lvl="2"/>
            <a:r>
              <a:rPr/>
              <a:t>Rechercher un médicament (ex: Paracétamol) et montrer la liste des pharmacies et leurs prix/disponibilités.</a:t>
            </a:r>
          </a:p>
          <a:p>
            <a:pPr lvl="1">
              <a:buAutoNum type="arabicPeriod"/>
            </a:pPr>
            <a:r>
              <a:rPr/>
              <a:t>Se connecter comme administrateur :</a:t>
            </a:r>
          </a:p>
          <a:p>
            <a:pPr lvl="2"/>
            <a:r>
              <a:rPr/>
              <a:t>Cliquer sur « Se connecter » → utiliser admin / admin.</a:t>
            </a:r>
          </a:p>
          <a:p>
            <a:pPr lvl="2"/>
            <a:r>
              <a:rPr/>
              <a:t>Montrer le tableau d’administration : modification d’une fiche pharmacie (adresse, téléphone), définition de la pharmacie de garde, import d’un fichier CSV.</a:t>
            </a:r>
          </a:p>
          <a:p>
            <a:pPr lvl="1">
              <a:buAutoNum type="arabicPeriod"/>
            </a:pPr>
            <a:r>
              <a:rPr/>
              <a:t>Se connecter comme pharmacien :</a:t>
            </a:r>
          </a:p>
          <a:p>
            <a:pPr lvl="2"/>
            <a:r>
              <a:rPr/>
              <a:t>Se déconnecter, puis aller sur la page d’une pharmacie et cliquer « Se connecter » avec le mot de passe de cette pharmacie.</a:t>
            </a:r>
          </a:p>
          <a:p>
            <a:pPr lvl="2"/>
            <a:r>
              <a:rPr/>
              <a:t>Importer un petit CSV (format ci‑dessous) pour mettre à jour plusieurs médicaments.</a:t>
            </a:r>
          </a:p>
          <a:p>
            <a:pPr lvl="2"/>
            <a:r>
              <a:rPr/>
              <a:t>Montrer que le client, lui, ne voit pas les boutons d’import/édition.</a:t>
            </a:r>
          </a:p>
          <a:p>
            <a:pPr lvl="1">
              <a:buAutoNum type="arabicPeriod"/>
            </a:pPr>
            <a:r>
              <a:rPr/>
              <a:t>Conclusion rapide : expliquer comment l’administration peut surveiller et ajuster l’inventaire, et comment la solution peut être proposée aux pharmacies.</a:t>
            </a:r>
          </a:p>
          <a:p>
            <a:pPr lvl="0" marL="0" indent="0">
              <a:buNone/>
            </a:pPr>
            <a:r>
              <a:rPr/>
              <a:t>Exemple de fichier CSV (ligne d’en-tête requise)</a:t>
            </a:r>
          </a:p>
          <a:p>
            <a:pPr lvl="0" marL="0" indent="0">
              <a:buNone/>
            </a:pPr>
            <a:r>
              <a:rPr/>
              <a:t>id,name,status,price med-001,Paracétamol 500mg,in,200 med-002,Ibuprofène 400mg,out,</a:t>
            </a:r>
          </a:p>
          <a:p>
            <a:pPr lvl="1"/>
            <a:r>
              <a:rPr/>
              <a:t>status : “in” (disponible) ou “out” (rupture)</a:t>
            </a:r>
          </a:p>
          <a:p>
            <a:pPr lvl="1"/>
            <a:r>
              <a:rPr/>
              <a:t>price : nombre entier (FCFA) ou vide si non applicable</a:t>
            </a:r>
          </a:p>
          <a:p>
            <a:pPr lvl="0" marL="0" indent="0">
              <a:buNone/>
            </a:pPr>
            <a:r>
              <a:rPr/>
              <a:t>Technologies (brefs mots pour rassurer)</a:t>
            </a:r>
          </a:p>
          <a:p>
            <a:pPr lvl="1"/>
            <a:r>
              <a:rPr/>
              <a:t>Frontend : React + Vite + TypeScript. UI moderne (TailwindCSS, Radix). Performances rapides en local.</a:t>
            </a:r>
          </a:p>
          <a:p>
            <a:pPr lvl="1"/>
            <a:r>
              <a:rPr/>
              <a:t>Backend : Node.js + Express + TypeScript. Authentification par jetons (JWT). Mot de passe hachés pour la démonstration.</a:t>
            </a:r>
          </a:p>
          <a:p>
            <a:pPr lvl="1"/>
            <a:r>
              <a:rPr/>
              <a:t>Architecture : frontend interroge le backend via API; le backend expose endpoints de connexion et de mise à jour.</a:t>
            </a:r>
          </a:p>
          <a:p>
            <a:pPr lvl="0" marL="0" indent="0">
              <a:buNone/>
            </a:pPr>
            <a:r>
              <a:rPr/>
              <a:t>Sécurité et limitations actuelles (à expliquer au jury)</a:t>
            </a:r>
          </a:p>
          <a:p>
            <a:pPr lvl="1"/>
            <a:r>
              <a:rPr/>
              <a:t>Prototype : données en mémoire pour démonstration (seed). Pour production il faut une base de données (Postgres, MySQL, etc.).</a:t>
            </a:r>
          </a:p>
          <a:p>
            <a:pPr lvl="1"/>
            <a:r>
              <a:rPr/>
              <a:t>Authentification : JWT côté serveur ; dans la démo le token est stocké en local (localStorage). En production, utiliser cookies httpOnly pour plus de sécurité.</a:t>
            </a:r>
          </a:p>
          <a:p>
            <a:pPr lvl="1"/>
            <a:r>
              <a:rPr/>
              <a:t>Pas de chiffrement de bout en bout pour les données sensibles dans cette version de démonstration.</a:t>
            </a:r>
          </a:p>
          <a:p>
            <a:pPr lvl="0" marL="0" indent="0">
              <a:buNone/>
            </a:pPr>
            <a:r>
              <a:rPr/>
              <a:t>Valeur business et opportunités</a:t>
            </a:r>
          </a:p>
          <a:p>
            <a:pPr lvl="1"/>
            <a:r>
              <a:rPr/>
              <a:t>Réduction du temps perdu par les patients et des appels téléphoniques aux pharmacies.</a:t>
            </a:r>
          </a:p>
          <a:p>
            <a:pPr lvl="1"/>
            <a:r>
              <a:rPr/>
              <a:t>Meilleure rotation des stocks et moins de ruptures grâce à des mises à jour rapides.</a:t>
            </a:r>
          </a:p>
          <a:p>
            <a:pPr lvl="1"/>
            <a:r>
              <a:rPr/>
              <a:t>Opportunités commerciales : abonnement pour les pharmacies (statistiques, rapports), partenariats avec fournisseurs, services premium (mise en avant, livraison).</a:t>
            </a:r>
          </a:p>
          <a:p>
            <a:pPr lvl="0" marL="0" indent="0">
              <a:buNone/>
            </a:pPr>
            <a:r>
              <a:rPr/>
              <a:t>Demande de sponsorisation (proposition)</a:t>
            </a:r>
          </a:p>
          <a:p>
            <a:pPr lvl="1"/>
            <a:r>
              <a:rPr/>
              <a:t>Objectif : rendre la solution production-ready (persistante, sécurisée, hébergée et monitorée).</a:t>
            </a:r>
          </a:p>
          <a:p>
            <a:pPr lvl="1"/>
            <a:r>
              <a:rPr/>
              <a:t>Estimation initiale pour un MVP production : 12–20k EUR (2–3 mois) — inclut développement backend persistant, stockage fichiers, hébergement cloud, sécurité et tests.</a:t>
            </a:r>
          </a:p>
          <a:p>
            <a:pPr lvl="1"/>
            <a:r>
              <a:rPr/>
              <a:t>Livrables : API sécurisée, authentification robuste, tableau d’administration complet, documentation utilisateur, plan d’hébergement.</a:t>
            </a:r>
          </a:p>
          <a:p>
            <a:pPr lvl="0" marL="0" indent="0">
              <a:buNone/>
            </a:pPr>
            <a:r>
              <a:rPr/>
              <a:t>Prochaines étapes recommandées</a:t>
            </a:r>
          </a:p>
          <a:p>
            <a:pPr lvl="1"/>
            <a:r>
              <a:rPr/>
              <a:t>Valider le budget et les priorités (sécurité / persistance / UX).</a:t>
            </a:r>
            <a:br/>
          </a:p>
          <a:p>
            <a:pPr lvl="1"/>
            <a:r>
              <a:rPr/>
              <a:t>Déployer une instance pilote dans une région cible avec 5–10 pharmacies.</a:t>
            </a:r>
            <a:br/>
          </a:p>
          <a:p>
            <a:pPr lvl="1"/>
            <a:r>
              <a:rPr/>
              <a:t>Mesurer KPI : nombre de recherches, taux de mise à jour des stocks, réduction des appels.</a:t>
            </a:r>
          </a:p>
          <a:p>
            <a:pPr lvl="0" marL="0" indent="0">
              <a:buNone/>
            </a:pPr>
            <a:r>
              <a:rPr/>
              <a:t>Contact et supports</a:t>
            </a:r>
          </a:p>
          <a:p>
            <a:pPr lvl="1"/>
            <a:r>
              <a:rPr/>
              <a:t>Pour la démo sur place, utiliser l’ordinateur local et suivre le script de démonstration ci‑dessus.</a:t>
            </a:r>
            <a:br/>
          </a:p>
          <a:p>
            <a:pPr lvl="1"/>
            <a:r>
              <a:rPr/>
              <a:t>Souhaitez-vous une version PPTX/PDF de ce document optimisée pour le jury ? Je peux la générer.</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marL="0" indent="0">
              <a:buNone/>
            </a:pPr>
            <a:r>
              <a:rPr/>
              <a:t>Bonne présentation — dites si une version plus courte (1 page) ou des slides sont nécessaires, et si la liste complète des identifiants de démo doit être incluse.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49</Words>
  <Application>Microsoft Office PowerPoint</Application>
  <PresentationFormat>On-screen Show (4:3)</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2026-06-10T08:52:52Z</dcterms:created>
  <dcterms:modified xsi:type="dcterms:W3CDTF">2026-06-10T08:52:52Z</dcterms:modified>
</cp:coreProperties>
</file>

<file path=docProps/custom.xml><?xml version="1.0" encoding="utf-8"?>
<Properties xmlns="http://schemas.openxmlformats.org/officeDocument/2006/custom-properties" xmlns:vt="http://schemas.openxmlformats.org/officeDocument/2006/docPropsVTypes"/>
</file>